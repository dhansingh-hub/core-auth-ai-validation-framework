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progress, then explain that inventory, semantic matching and execution certification are different measures. Do not describe 53.13% as validated semantic coverage.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21,210 physical request-data files covering 21,096 logical cases. Do not say 42,420 test data artifacts by counting metadata twice.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matrix exists, but not all BRs have complete generated chains. The 63 additional producer rows are unconfirmed without the omitted producer edges. Reconstruction is independent evidence, not the missing producer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populated aggregate as the primary answer and explain structural inventory separately. Neither is an approved semantic denominator for the October AI delivery. The approved-chain package is empty, not proof that no source rules exist.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IDs and legal data values can match. Literal constants must match; variable data may differ if both satisfy the same rule and preserve dependencies. Similar titles, shared IDs and AI confidence are only candidate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honestly: current confirmed count is none established. We have concrete field-level alignment and partial candidates, not an approved complete cross-producer matrix.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this a perfect BR match. AI BR also carries range/application language, while the Test BR shown is a six-digit representation obligation. Show the full statements in the companion brief.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partial-approval example is a not-proven context comparison, not an automatic AI defect. A positive value-0 case may legitimately test a different branch.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one scoped filter at a time and state its denominator. Coverage selectors are summary dimensions, not a full 21,123-case explorer. Unattributed cases remain separately in the full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specific evidence and authorization needed. Source/SME review and processor authorization are business controls, not issues to bypass for a green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ATL105 | AI validation business briefing</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AI produced substantial BR, scenario, case and payload inventories.</a:t>
            </a:r>
          </a:p>
          <a:p>
            <a:pPr>
              <a:spcAft>
                <a:spcPts val="800"/>
              </a:spcAft>
              <a:defRPr sz="2100" b="0">
                <a:solidFill>
                  <a:srgbClr val="202526"/>
                </a:solidFill>
                <a:latin typeface="Aptos"/>
              </a:defRPr>
            </a:pPr>
            <a:r>
              <a:t>Independent reconstruction makes the full structural graph auditable.</a:t>
            </a:r>
          </a:p>
          <a:p>
            <a:pPr>
              <a:spcAft>
                <a:spcPts val="800"/>
              </a:spcAft>
              <a:defRPr sz="2100" b="0">
                <a:solidFill>
                  <a:srgbClr val="202526"/>
                </a:solidFill>
                <a:latin typeface="Aptos"/>
              </a:defRPr>
            </a:pPr>
            <a:r>
              <a:t>Structural links and matching field values do not establish full business equivalence or host acceptance.</a:t>
            </a:r>
          </a:p>
          <a:p>
            <a:pPr>
              <a:spcAft>
                <a:spcPts val="800"/>
              </a:spcAft>
              <a:defRPr sz="2100" b="0">
                <a:solidFill>
                  <a:srgbClr val="202526"/>
                </a:solidFill>
                <a:latin typeface="Aptos"/>
              </a:defRPr>
            </a:pPr>
            <a:r>
              <a:t>Decision today: review the discrepancies and authorize a defined evidence-qualified scope.</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1 | What did the AI Solution create?</a:t>
            </a:r>
          </a:p>
        </p:txBody>
      </p:sp>
      <p:graphicFrame>
        <p:nvGraphicFramePr>
          <p:cNvPr id="3" name="Table 2"/>
          <p:cNvGraphicFramePr>
            <a:graphicFrameLocks noGrp="1"/>
          </p:cNvGraphicFramePr>
          <p:nvPr/>
        </p:nvGraphicFramePr>
        <p:xfrm>
          <a:off x="548640" y="1325880"/>
          <a:ext cx="11064240" cy="2578608"/>
        </p:xfrm>
        <a:graphic>
          <a:graphicData uri="http://schemas.openxmlformats.org/drawingml/2006/table">
            <a:tbl>
              <a:tblPr firstRow="1" bandRow="1">
                <a:tableStyleId>{5C22544A-7EE6-4342-B048-85BDC9FD1C3A}</a:tableStyleId>
              </a:tblPr>
              <a:tblGrid>
                <a:gridCol w="5532120"/>
                <a:gridCol w="5532120"/>
              </a:tblGrid>
              <a:tr h="429768">
                <a:tc>
                  <a:txBody>
                    <a:bodyPr/>
                    <a:lstStyle/>
                    <a:p>
                      <a:pPr>
                        <a:defRPr sz="1500">
                          <a:solidFill>
                            <a:srgbClr val="202526"/>
                          </a:solidFill>
                          <a:latin typeface="Aptos"/>
                        </a:defRPr>
                      </a:pPr>
                      <a:r>
                        <a:t>Artifact</a:t>
                      </a:r>
                    </a:p>
                  </a:txBody>
                  <a:tcPr>
                    <a:solidFill>
                      <a:srgbClr val="E5EFED"/>
                    </a:solidFill>
                  </a:tcPr>
                </a:tc>
                <a:tc>
                  <a:txBody>
                    <a:bodyPr/>
                    <a:lstStyle/>
                    <a:p>
                      <a:pPr>
                        <a:defRPr sz="1500">
                          <a:solidFill>
                            <a:srgbClr val="202526"/>
                          </a:solidFill>
                          <a:latin typeface="Aptos"/>
                        </a:defRPr>
                      </a:pPr>
                      <a:r>
                        <a:t>Count</a:t>
                      </a:r>
                    </a:p>
                  </a:txBody>
                  <a:tcPr>
                    <a:solidFill>
                      <a:srgbClr val="E5EFED"/>
                    </a:solidFill>
                  </a:tcPr>
                </a:tc>
              </a:tr>
              <a:tr h="429768">
                <a:tc>
                  <a:txBody>
                    <a:bodyPr/>
                    <a:lstStyle/>
                    <a:p>
                      <a:pPr>
                        <a:defRPr sz="1500">
                          <a:solidFill>
                            <a:srgbClr val="202526"/>
                          </a:solidFill>
                          <a:latin typeface="Aptos"/>
                        </a:defRPr>
                      </a:pPr>
                      <a:r>
                        <a:t>BR</a:t>
                      </a:r>
                    </a:p>
                  </a:txBody>
                  <a:tcPr>
                    <a:solidFill>
                      <a:srgbClr val="FFFFFF"/>
                    </a:solidFill>
                  </a:tcPr>
                </a:tc>
                <a:tc>
                  <a:txBody>
                    <a:bodyPr/>
                    <a:lstStyle/>
                    <a:p>
                      <a:pPr>
                        <a:defRPr sz="1500">
                          <a:solidFill>
                            <a:srgbClr val="202526"/>
                          </a:solidFill>
                          <a:latin typeface="Aptos"/>
                        </a:defRPr>
                      </a:pPr>
                      <a:r>
                        <a:t>6,887</a:t>
                      </a:r>
                    </a:p>
                  </a:txBody>
                  <a:tcPr>
                    <a:solidFill>
                      <a:srgbClr val="FFFFFF"/>
                    </a:solidFill>
                  </a:tcPr>
                </a:tc>
              </a:tr>
              <a:tr h="429768">
                <a:tc>
                  <a:txBody>
                    <a:bodyPr/>
                    <a:lstStyle/>
                    <a:p>
                      <a:pPr>
                        <a:defRPr sz="1500">
                          <a:solidFill>
                            <a:srgbClr val="202526"/>
                          </a:solidFill>
                          <a:latin typeface="Aptos"/>
                        </a:defRPr>
                      </a:pPr>
                      <a:r>
                        <a:t>TS</a:t>
                      </a:r>
                    </a:p>
                  </a:txBody>
                  <a:tcPr>
                    <a:solidFill>
                      <a:srgbClr val="FFFFFF"/>
                    </a:solidFill>
                  </a:tcPr>
                </a:tc>
                <a:tc>
                  <a:txBody>
                    <a:bodyPr/>
                    <a:lstStyle/>
                    <a:p>
                      <a:pPr>
                        <a:defRPr sz="1500">
                          <a:solidFill>
                            <a:srgbClr val="202526"/>
                          </a:solidFill>
                          <a:latin typeface="Aptos"/>
                        </a:defRPr>
                      </a:pPr>
                      <a:r>
                        <a:t>12,679</a:t>
                      </a:r>
                    </a:p>
                  </a:txBody>
                  <a:tcPr>
                    <a:solidFill>
                      <a:srgbClr val="FFFFFF"/>
                    </a:solidFill>
                  </a:tcPr>
                </a:tc>
              </a:tr>
              <a:tr h="429768">
                <a:tc>
                  <a:txBody>
                    <a:bodyPr/>
                    <a:lstStyle/>
                    <a:p>
                      <a:pPr>
                        <a:defRPr sz="1500">
                          <a:solidFill>
                            <a:srgbClr val="202526"/>
                          </a:solidFill>
                          <a:latin typeface="Aptos"/>
                        </a:defRPr>
                      </a:pPr>
                      <a:r>
                        <a:t>TC</a:t>
                      </a:r>
                    </a:p>
                  </a:txBody>
                  <a:tcPr>
                    <a:solidFill>
                      <a:srgbClr val="FFFFFF"/>
                    </a:solidFill>
                  </a:tcPr>
                </a:tc>
                <a:tc>
                  <a:txBody>
                    <a:bodyPr/>
                    <a:lstStyle/>
                    <a:p>
                      <a:pPr>
                        <a:defRPr sz="1500">
                          <a:solidFill>
                            <a:srgbClr val="202526"/>
                          </a:solidFill>
                          <a:latin typeface="Aptos"/>
                        </a:defRPr>
                      </a:pPr>
                      <a:r>
                        <a:t>21,123</a:t>
                      </a:r>
                    </a:p>
                  </a:txBody>
                  <a:tcPr>
                    <a:solidFill>
                      <a:srgbClr val="FFFFFF"/>
                    </a:solidFill>
                  </a:tcPr>
                </a:tc>
              </a:tr>
              <a:tr h="429768">
                <a:tc>
                  <a:txBody>
                    <a:bodyPr/>
                    <a:lstStyle/>
                    <a:p>
                      <a:pPr>
                        <a:defRPr sz="1500">
                          <a:solidFill>
                            <a:srgbClr val="202526"/>
                          </a:solidFill>
                          <a:latin typeface="Aptos"/>
                        </a:defRPr>
                      </a:pPr>
                      <a:r>
                        <a:t>TD request files</a:t>
                      </a:r>
                    </a:p>
                  </a:txBody>
                  <a:tcPr>
                    <a:solidFill>
                      <a:srgbClr val="FFFFFF"/>
                    </a:solidFill>
                  </a:tcPr>
                </a:tc>
                <a:tc>
                  <a:txBody>
                    <a:bodyPr/>
                    <a:lstStyle/>
                    <a:p>
                      <a:pPr>
                        <a:defRPr sz="1500">
                          <a:solidFill>
                            <a:srgbClr val="202526"/>
                          </a:solidFill>
                          <a:latin typeface="Aptos"/>
                        </a:defRPr>
                      </a:pPr>
                      <a:r>
                        <a:t>21,210</a:t>
                      </a:r>
                    </a:p>
                  </a:txBody>
                  <a:tcPr>
                    <a:solidFill>
                      <a:srgbClr val="FFFFFF"/>
                    </a:solidFill>
                  </a:tcPr>
                </a:tc>
              </a:tr>
              <a:tr h="429768">
                <a:tc>
                  <a:txBody>
                    <a:bodyPr/>
                    <a:lstStyle/>
                    <a:p>
                      <a:pPr>
                        <a:defRPr sz="1500">
                          <a:solidFill>
                            <a:srgbClr val="202526"/>
                          </a:solidFill>
                          <a:latin typeface="Aptos"/>
                        </a:defRPr>
                      </a:pPr>
                      <a:r>
                        <a:t>Logical TCs with physical TD</a:t>
                      </a:r>
                    </a:p>
                  </a:txBody>
                  <a:tcPr>
                    <a:solidFill>
                      <a:srgbClr val="FFFFFF"/>
                    </a:solidFill>
                  </a:tcPr>
                </a:tc>
                <a:tc>
                  <a:txBody>
                    <a:bodyPr/>
                    <a:lstStyle/>
                    <a:p>
                      <a:pPr>
                        <a:defRPr sz="1500">
                          <a:solidFill>
                            <a:srgbClr val="202526"/>
                          </a:solidFill>
                          <a:latin typeface="Aptos"/>
                        </a:defRPr>
                      </a:pPr>
                      <a:r>
                        <a:t>21,096 / 21,123</a:t>
                      </a:r>
                    </a:p>
                  </a:txBody>
                  <a:tcPr>
                    <a:solidFill>
                      <a:srgbClr val="FFFFFF"/>
                    </a:solidFill>
                  </a:tcPr>
                </a:tc>
              </a:tr>
            </a:tbl>
          </a:graphicData>
        </a:graphic>
      </p:graphicFrame>
      <p:sp>
        <p:nvSpPr>
          <p:cNvPr id="4" name="TextBox 3"/>
          <p:cNvSpPr txBox="1"/>
          <p:nvPr/>
        </p:nvSpPr>
        <p:spPr>
          <a:xfrm>
            <a:off x="548640" y="4133087"/>
            <a:ext cx="11064240" cy="1947672"/>
          </a:xfrm>
          <a:prstGeom prst="rect">
            <a:avLst/>
          </a:prstGeom>
          <a:noFill/>
        </p:spPr>
        <p:txBody>
          <a:bodyPr wrap="square">
            <a:spAutoFit/>
          </a:bodyPr>
          <a:lstStyle/>
          <a:p>
            <a:pPr>
              <a:spcAft>
                <a:spcPts val="800"/>
              </a:spcAft>
              <a:defRPr sz="1800" b="0">
                <a:solidFill>
                  <a:srgbClr val="202526"/>
                </a:solidFill>
                <a:latin typeface="Aptos"/>
              </a:defRPr>
            </a:pPr>
            <a:r>
              <a:t>Each of the 21,210 request files has a metadata companion; metadata is not another TD.</a:t>
            </a:r>
          </a:p>
          <a:p>
            <a:pPr>
              <a:spcAft>
                <a:spcPts val="800"/>
              </a:spcAft>
              <a:defRPr sz="1800" b="0">
                <a:solidFill>
                  <a:srgbClr val="202526"/>
                </a:solidFill>
                <a:latin typeface="Aptos"/>
              </a:defRPr>
            </a:pPr>
            <a:r>
              <a:t>Flows have multiple payload legs. Therefore physical TD files and logical TC counts differ.</a:t>
            </a:r>
          </a:p>
          <a:p>
            <a:pPr>
              <a:spcAft>
                <a:spcPts val="800"/>
              </a:spcAft>
              <a:defRPr sz="1800" b="0">
                <a:solidFill>
                  <a:srgbClr val="202526"/>
                </a:solidFill>
                <a:latin typeface="Aptos"/>
              </a:defRPr>
            </a:pPr>
            <a:r>
              <a:t>27 TCs have no physical TD; 3,732 scenarios have no TC.</a:t>
            </a:r>
          </a:p>
        </p:txBody>
      </p:sp>
      <p:sp>
        <p:nvSpPr>
          <p:cNvPr id="5" name="TextBox 4"/>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2 | Is there a complete AI traceability matrix?</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Yes, a matrix document was delivered; its displayed content is truncated.</a:t>
            </a:r>
          </a:p>
          <a:p>
            <a:pPr>
              <a:spcAft>
                <a:spcPts val="800"/>
              </a:spcAft>
              <a:defRPr sz="2100" b="0">
                <a:solidFill>
                  <a:srgbClr val="202526"/>
                </a:solidFill>
                <a:latin typeface="Aptos"/>
              </a:defRPr>
            </a:pPr>
            <a:r>
              <a:t>AI declares 61,107 rows, but Markdown shows 2,000 rows and 200 BR details.</a:t>
            </a:r>
          </a:p>
          <a:p>
            <a:pPr>
              <a:spcAft>
                <a:spcPts val="800"/>
              </a:spcAft>
              <a:defRPr sz="2100" b="0">
                <a:solidFill>
                  <a:srgbClr val="202526"/>
                </a:solidFill>
                <a:latin typeface="Aptos"/>
              </a:defRPr>
            </a:pPr>
            <a:r>
              <a:t>Our independent reconstruction has 61,044 leaves and represents all 6,887 BRs.</a:t>
            </a:r>
          </a:p>
          <a:p>
            <a:pPr>
              <a:spcAft>
                <a:spcPts val="800"/>
              </a:spcAft>
              <a:defRPr sz="2100" b="0">
                <a:solidFill>
                  <a:srgbClr val="202526"/>
                </a:solidFill>
                <a:latin typeface="Aptos"/>
              </a:defRPr>
            </a:pPr>
            <a:r>
              <a:t>3,659 BRs have TC links (53.13% internal linkage); 8,947 scenarios have TCs.</a:t>
            </a:r>
          </a:p>
          <a:p>
            <a:pPr>
              <a:spcAft>
                <a:spcPts val="800"/>
              </a:spcAft>
              <a:defRPr sz="2100" b="0">
                <a:solidFill>
                  <a:srgbClr val="202526"/>
                </a:solidFill>
                <a:latin typeface="Aptos"/>
              </a:defRPr>
            </a:pPr>
            <a:r>
              <a:t>Producer's 3,661 linked BRs and 92 orphan scenarios differ from frozen 3,659 and 155.</a:t>
            </a:r>
          </a:p>
          <a:p>
            <a:pPr>
              <a:spcAft>
                <a:spcPts val="800"/>
              </a:spcAft>
              <a:defRPr sz="2100" b="0">
                <a:solidFill>
                  <a:srgbClr val="202526"/>
                </a:solidFill>
                <a:latin typeface="Aptos"/>
              </a:defRPr>
            </a:pPr>
            <a:r>
              <a:t>All 200 displayed BR-level statuses agree; 75 leaf labels inherit a BR's FULLY_TRACED status.</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3 | What has the Test Solution identified?</a:t>
            </a:r>
          </a:p>
        </p:txBody>
      </p:sp>
      <p:graphicFrame>
        <p:nvGraphicFramePr>
          <p:cNvPr id="3" name="Table 2"/>
          <p:cNvGraphicFramePr>
            <a:graphicFrameLocks noGrp="1"/>
          </p:cNvGraphicFramePr>
          <p:nvPr/>
        </p:nvGraphicFramePr>
        <p:xfrm>
          <a:off x="548640" y="1325880"/>
          <a:ext cx="11064240" cy="1719072"/>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429768">
                <a:tc>
                  <a:txBody>
                    <a:bodyPr/>
                    <a:lstStyle/>
                    <a:p>
                      <a:pPr>
                        <a:defRPr sz="1700">
                          <a:solidFill>
                            <a:srgbClr val="202526"/>
                          </a:solidFill>
                          <a:latin typeface="Aptos"/>
                        </a:defRPr>
                      </a:pPr>
                      <a:r>
                        <a:t>Inventory</a:t>
                      </a:r>
                    </a:p>
                  </a:txBody>
                  <a:tcPr>
                    <a:solidFill>
                      <a:srgbClr val="E5EFED"/>
                    </a:solidFill>
                  </a:tcPr>
                </a:tc>
                <a:tc>
                  <a:txBody>
                    <a:bodyPr/>
                    <a:lstStyle/>
                    <a:p>
                      <a:pPr>
                        <a:defRPr sz="1700">
                          <a:solidFill>
                            <a:srgbClr val="202526"/>
                          </a:solidFill>
                          <a:latin typeface="Aptos"/>
                        </a:defRPr>
                      </a:pPr>
                      <a:r>
                        <a:t>BR</a:t>
                      </a:r>
                    </a:p>
                  </a:txBody>
                  <a:tcPr>
                    <a:solidFill>
                      <a:srgbClr val="E5EFED"/>
                    </a:solidFill>
                  </a:tcPr>
                </a:tc>
                <a:tc>
                  <a:txBody>
                    <a:bodyPr/>
                    <a:lstStyle/>
                    <a:p>
                      <a:pPr>
                        <a:defRPr sz="1700">
                          <a:solidFill>
                            <a:srgbClr val="202526"/>
                          </a:solidFill>
                          <a:latin typeface="Aptos"/>
                        </a:defRPr>
                      </a:pPr>
                      <a:r>
                        <a:t>TS</a:t>
                      </a:r>
                    </a:p>
                  </a:txBody>
                  <a:tcPr>
                    <a:solidFill>
                      <a:srgbClr val="E5EFED"/>
                    </a:solidFill>
                  </a:tcPr>
                </a:tc>
                <a:tc>
                  <a:txBody>
                    <a:bodyPr/>
                    <a:lstStyle/>
                    <a:p>
                      <a:pPr>
                        <a:defRPr sz="1700">
                          <a:solidFill>
                            <a:srgbClr val="202526"/>
                          </a:solidFill>
                          <a:latin typeface="Aptos"/>
                        </a:defRPr>
                      </a:pPr>
                      <a:r>
                        <a:t>TC</a:t>
                      </a:r>
                    </a:p>
                  </a:txBody>
                  <a:tcPr>
                    <a:solidFill>
                      <a:srgbClr val="E5EFED"/>
                    </a:solidFill>
                  </a:tcPr>
                </a:tc>
                <a:tc>
                  <a:txBody>
                    <a:bodyPr/>
                    <a:lstStyle/>
                    <a:p>
                      <a:pPr>
                        <a:defRPr sz="1700">
                          <a:solidFill>
                            <a:srgbClr val="202526"/>
                          </a:solidFill>
                          <a:latin typeface="Aptos"/>
                        </a:defRPr>
                      </a:pPr>
                      <a:r>
                        <a:t>TD</a:t>
                      </a:r>
                    </a:p>
                  </a:txBody>
                  <a:tcPr>
                    <a:solidFill>
                      <a:srgbClr val="E5EFED"/>
                    </a:solidFill>
                  </a:tcPr>
                </a:tc>
              </a:tr>
              <a:tr h="429768">
                <a:tc>
                  <a:txBody>
                    <a:bodyPr/>
                    <a:lstStyle/>
                    <a:p>
                      <a:pPr>
                        <a:defRPr sz="1700">
                          <a:solidFill>
                            <a:srgbClr val="202526"/>
                          </a:solidFill>
                          <a:latin typeface="Aptos"/>
                        </a:defRPr>
                      </a:pPr>
                      <a:r>
                        <a:t>Populated aggregate</a:t>
                      </a:r>
                    </a:p>
                  </a:txBody>
                  <a:tcPr>
                    <a:solidFill>
                      <a:srgbClr val="FFFFFF"/>
                    </a:solidFill>
                  </a:tcPr>
                </a:tc>
                <a:tc>
                  <a:txBody>
                    <a:bodyPr/>
                    <a:lstStyle/>
                    <a:p>
                      <a:pPr>
                        <a:defRPr sz="1700">
                          <a:solidFill>
                            <a:srgbClr val="202526"/>
                          </a:solidFill>
                          <a:latin typeface="Aptos"/>
                        </a:defRPr>
                      </a:pPr>
                      <a:r>
                        <a:t>725</a:t>
                      </a:r>
                    </a:p>
                  </a:txBody>
                  <a:tcPr>
                    <a:solidFill>
                      <a:srgbClr val="FFFFFF"/>
                    </a:solidFill>
                  </a:tcPr>
                </a:tc>
                <a:tc>
                  <a:txBody>
                    <a:bodyPr/>
                    <a:lstStyle/>
                    <a:p>
                      <a:pPr>
                        <a:defRPr sz="1700">
                          <a:solidFill>
                            <a:srgbClr val="202526"/>
                          </a:solidFill>
                          <a:latin typeface="Aptos"/>
                        </a:defRPr>
                      </a:pPr>
                      <a:r>
                        <a:t>1,343</a:t>
                      </a:r>
                    </a:p>
                  </a:txBody>
                  <a:tcPr>
                    <a:solidFill>
                      <a:srgbClr val="FFFFFF"/>
                    </a:solidFill>
                  </a:tcPr>
                </a:tc>
                <a:tc>
                  <a:txBody>
                    <a:bodyPr/>
                    <a:lstStyle/>
                    <a:p>
                      <a:pPr>
                        <a:defRPr sz="1700">
                          <a:solidFill>
                            <a:srgbClr val="202526"/>
                          </a:solidFill>
                          <a:latin typeface="Aptos"/>
                        </a:defRPr>
                      </a:pPr>
                      <a:r>
                        <a:t>1,424</a:t>
                      </a:r>
                    </a:p>
                  </a:txBody>
                  <a:tcPr>
                    <a:solidFill>
                      <a:srgbClr val="FFFFFF"/>
                    </a:solidFill>
                  </a:tcPr>
                </a:tc>
                <a:tc>
                  <a:txBody>
                    <a:bodyPr/>
                    <a:lstStyle/>
                    <a:p>
                      <a:pPr>
                        <a:defRPr sz="1700">
                          <a:solidFill>
                            <a:srgbClr val="202526"/>
                          </a:solidFill>
                          <a:latin typeface="Aptos"/>
                        </a:defRPr>
                      </a:pPr>
                      <a:r>
                        <a:t>1,416</a:t>
                      </a:r>
                    </a:p>
                  </a:txBody>
                  <a:tcPr>
                    <a:solidFill>
                      <a:srgbClr val="FFFFFF"/>
                    </a:solidFill>
                  </a:tcPr>
                </a:tc>
              </a:tr>
              <a:tr h="429768">
                <a:tc>
                  <a:txBody>
                    <a:bodyPr/>
                    <a:lstStyle/>
                    <a:p>
                      <a:pPr>
                        <a:defRPr sz="1700">
                          <a:solidFill>
                            <a:srgbClr val="202526"/>
                          </a:solidFill>
                          <a:latin typeface="Aptos"/>
                        </a:defRPr>
                      </a:pPr>
                      <a:r>
                        <a:t>Structural package</a:t>
                      </a:r>
                    </a:p>
                  </a:txBody>
                  <a:tcPr>
                    <a:solidFill>
                      <a:srgbClr val="FFFFFF"/>
                    </a:solidFill>
                  </a:tcPr>
                </a:tc>
                <a:tc>
                  <a:txBody>
                    <a:bodyPr/>
                    <a:lstStyle/>
                    <a:p>
                      <a:pPr>
                        <a:defRPr sz="1700">
                          <a:solidFill>
                            <a:srgbClr val="202526"/>
                          </a:solidFill>
                          <a:latin typeface="Aptos"/>
                        </a:defRPr>
                      </a:pPr>
                      <a:r>
                        <a:t>1,326</a:t>
                      </a:r>
                    </a:p>
                  </a:txBody>
                  <a:tcPr>
                    <a:solidFill>
                      <a:srgbClr val="FFFFFF"/>
                    </a:solidFill>
                  </a:tcPr>
                </a:tc>
                <a:tc>
                  <a:txBody>
                    <a:bodyPr/>
                    <a:lstStyle/>
                    <a:p>
                      <a:pPr>
                        <a:defRPr sz="1700">
                          <a:solidFill>
                            <a:srgbClr val="202526"/>
                          </a:solidFill>
                          <a:latin typeface="Aptos"/>
                        </a:defRPr>
                      </a:pPr>
                      <a:r>
                        <a:t>1,961</a:t>
                      </a:r>
                    </a:p>
                  </a:txBody>
                  <a:tcPr>
                    <a:solidFill>
                      <a:srgbClr val="FFFFFF"/>
                    </a:solidFill>
                  </a:tcPr>
                </a:tc>
                <a:tc>
                  <a:txBody>
                    <a:bodyPr/>
                    <a:lstStyle/>
                    <a:p>
                      <a:pPr>
                        <a:defRPr sz="1700">
                          <a:solidFill>
                            <a:srgbClr val="202526"/>
                          </a:solidFill>
                          <a:latin typeface="Aptos"/>
                        </a:defRPr>
                      </a:pPr>
                      <a:r>
                        <a:t>2,043</a:t>
                      </a:r>
                    </a:p>
                  </a:txBody>
                  <a:tcPr>
                    <a:solidFill>
                      <a:srgbClr val="FFFFFF"/>
                    </a:solidFill>
                  </a:tcPr>
                </a:tc>
                <a:tc>
                  <a:txBody>
                    <a:bodyPr/>
                    <a:lstStyle/>
                    <a:p>
                      <a:pPr>
                        <a:defRPr sz="1700">
                          <a:solidFill>
                            <a:srgbClr val="202526"/>
                          </a:solidFill>
                          <a:latin typeface="Aptos"/>
                        </a:defRPr>
                      </a:pPr>
                      <a:r>
                        <a:t>2,057</a:t>
                      </a:r>
                    </a:p>
                  </a:txBody>
                  <a:tcPr>
                    <a:solidFill>
                      <a:srgbClr val="FFFFFF"/>
                    </a:solidFill>
                  </a:tcPr>
                </a:tc>
              </a:tr>
              <a:tr h="429768">
                <a:tc>
                  <a:txBody>
                    <a:bodyPr/>
                    <a:lstStyle/>
                    <a:p>
                      <a:pPr>
                        <a:defRPr sz="1700">
                          <a:solidFill>
                            <a:srgbClr val="202526"/>
                          </a:solidFill>
                          <a:latin typeface="Aptos"/>
                        </a:defRPr>
                      </a:pPr>
                      <a:r>
                        <a:t>Approved-chain package</a:t>
                      </a:r>
                    </a:p>
                  </a:txBody>
                  <a:tcPr>
                    <a:solidFill>
                      <a:srgbClr val="FFFFFF"/>
                    </a:solidFill>
                  </a:tcPr>
                </a:tc>
                <a:tc>
                  <a:txBody>
                    <a:bodyPr/>
                    <a:lstStyle/>
                    <a:p>
                      <a:pPr>
                        <a:defRPr sz="1700">
                          <a:solidFill>
                            <a:srgbClr val="202526"/>
                          </a:solidFill>
                          <a:latin typeface="Aptos"/>
                        </a:defRPr>
                      </a:pPr>
                      <a:r>
                        <a:t>0</a:t>
                      </a:r>
                    </a:p>
                  </a:txBody>
                  <a:tcPr>
                    <a:solidFill>
                      <a:srgbClr val="FFFFFF"/>
                    </a:solidFill>
                  </a:tcPr>
                </a:tc>
                <a:tc>
                  <a:txBody>
                    <a:bodyPr/>
                    <a:lstStyle/>
                    <a:p>
                      <a:pPr>
                        <a:defRPr sz="1700">
                          <a:solidFill>
                            <a:srgbClr val="202526"/>
                          </a:solidFill>
                          <a:latin typeface="Aptos"/>
                        </a:defRPr>
                      </a:pPr>
                      <a:r>
                        <a:t>0</a:t>
                      </a:r>
                    </a:p>
                  </a:txBody>
                  <a:tcPr>
                    <a:solidFill>
                      <a:srgbClr val="FFFFFF"/>
                    </a:solidFill>
                  </a:tcPr>
                </a:tc>
                <a:tc>
                  <a:txBody>
                    <a:bodyPr/>
                    <a:lstStyle/>
                    <a:p>
                      <a:pPr>
                        <a:defRPr sz="1700">
                          <a:solidFill>
                            <a:srgbClr val="202526"/>
                          </a:solidFill>
                          <a:latin typeface="Aptos"/>
                        </a:defRPr>
                      </a:pPr>
                      <a:r>
                        <a:t>0</a:t>
                      </a:r>
                    </a:p>
                  </a:txBody>
                  <a:tcPr>
                    <a:solidFill>
                      <a:srgbClr val="FFFFFF"/>
                    </a:solidFill>
                  </a:tcPr>
                </a:tc>
                <a:tc>
                  <a:txBody>
                    <a:bodyPr/>
                    <a:lstStyle/>
                    <a:p>
                      <a:pPr>
                        <a:defRPr sz="1700">
                          <a:solidFill>
                            <a:srgbClr val="202526"/>
                          </a:solidFill>
                          <a:latin typeface="Aptos"/>
                        </a:defRPr>
                      </a:pPr>
                      <a:r>
                        <a:t>0</a:t>
                      </a:r>
                    </a:p>
                  </a:txBody>
                  <a:tcPr>
                    <a:solidFill>
                      <a:srgbClr val="FFFFFF"/>
                    </a:solidFill>
                  </a:tcPr>
                </a:tc>
              </a:tr>
            </a:tbl>
          </a:graphicData>
        </a:graphic>
      </p:graphicFrame>
      <p:sp>
        <p:nvSpPr>
          <p:cNvPr id="4" name="TextBox 3"/>
          <p:cNvSpPr txBox="1"/>
          <p:nvPr/>
        </p:nvSpPr>
        <p:spPr>
          <a:xfrm>
            <a:off x="548640" y="3273552"/>
            <a:ext cx="11064240" cy="2807208"/>
          </a:xfrm>
          <a:prstGeom prst="rect">
            <a:avLst/>
          </a:prstGeom>
          <a:noFill/>
        </p:spPr>
        <p:txBody>
          <a:bodyPr wrap="square">
            <a:spAutoFit/>
          </a:bodyPr>
          <a:lstStyle/>
          <a:p>
            <a:pPr>
              <a:spcAft>
                <a:spcPts val="800"/>
              </a:spcAft>
              <a:defRPr sz="1800" b="0">
                <a:solidFill>
                  <a:srgbClr val="202526"/>
                </a:solidFill>
                <a:latin typeface="Aptos"/>
              </a:defRPr>
            </a:pPr>
            <a:r>
              <a:t>Independent segment rule-catalog inventory: 601 rules across 49 segments.</a:t>
            </a:r>
          </a:p>
          <a:p>
            <a:pPr>
              <a:spcAft>
                <a:spcPts val="800"/>
              </a:spcAft>
              <a:defRPr sz="1800" b="0">
                <a:solidFill>
                  <a:srgbClr val="202526"/>
                </a:solidFill>
                <a:latin typeface="Aptos"/>
              </a:defRPr>
            </a:pPr>
            <a:r>
              <a:t>Structural package includes placeholders: 618 TS, 619 TC and 641 TD.</a:t>
            </a:r>
          </a:p>
          <a:p>
            <a:pPr>
              <a:spcAft>
                <a:spcPts val="800"/>
              </a:spcAft>
              <a:defRPr sz="1800" b="0">
                <a:solidFill>
                  <a:srgbClr val="202526"/>
                </a:solidFill>
                <a:latin typeface="Aptos"/>
              </a:defRPr>
            </a:pPr>
            <a:r>
              <a:t>These are inventory counts, not 1:1 AI matches or execution-ready chains.</a:t>
            </a:r>
          </a:p>
        </p:txBody>
      </p:sp>
      <p:sp>
        <p:nvSpPr>
          <p:cNvPr id="5" name="TextBox 4"/>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4 | How are AI and Test artifacts matched?</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Freeze delivery/version and source hashes; preserve original producer artifacts.</a:t>
            </a:r>
          </a:p>
          <a:p>
            <a:pPr>
              <a:spcAft>
                <a:spcPts val="800"/>
              </a:spcAft>
              <a:defRPr sz="2100" b="0">
                <a:solidFill>
                  <a:srgbClr val="202526"/>
                </a:solidFill>
                <a:latin typeface="Aptos"/>
              </a:defRPr>
            </a:pPr>
            <a:r>
              <a:t>Normalize formats through adapters; preserve each producer's local IDs.</a:t>
            </a:r>
          </a:p>
          <a:p>
            <a:pPr>
              <a:spcAft>
                <a:spcPts val="800"/>
              </a:spcAft>
              <a:defRPr sz="2100" b="0">
                <a:solidFill>
                  <a:srgbClr val="202526"/>
                </a:solidFill>
                <a:latin typeface="Aptos"/>
              </a:defRPr>
            </a:pPr>
            <a:r>
              <a:t>Match source anchors plus transaction/card/network/lifecycle context.</a:t>
            </a:r>
          </a:p>
          <a:p>
            <a:pPr>
              <a:spcAft>
                <a:spcPts val="800"/>
              </a:spcAft>
              <a:defRPr sz="2100" b="0">
                <a:solidFill>
                  <a:srgbClr val="202526"/>
                </a:solidFill>
                <a:latin typeface="Aptos"/>
              </a:defRPr>
            </a:pPr>
            <a:r>
              <a:t>Compare BR conditions, obligations, exceptions and expected behavior.</a:t>
            </a:r>
          </a:p>
          <a:p>
            <a:pPr>
              <a:spcAft>
                <a:spcPts val="800"/>
              </a:spcAft>
              <a:defRPr sz="2100" b="0">
                <a:solidFill>
                  <a:srgbClr val="202526"/>
                </a:solidFill>
                <a:latin typeface="Aptos"/>
              </a:defRPr>
            </a:pPr>
            <a:r>
              <a:t>Trace TS objective &gt; TC assertions &gt; TD predicates and dependencies.</a:t>
            </a:r>
          </a:p>
          <a:p>
            <a:pPr>
              <a:spcAft>
                <a:spcPts val="800"/>
              </a:spcAft>
              <a:defRPr sz="2100" b="0">
                <a:solidFill>
                  <a:srgbClr val="202526"/>
                </a:solidFill>
                <a:latin typeface="Aptos"/>
              </a:defRPr>
            </a:pPr>
            <a:r>
              <a:t>Assign CONFIRMED, REVIEW_REQUIRED or MISSING with evidence and owners.</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5 | How many perfect matches can we claim?</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No evidence-qualified full-chain perfect-match count is established for October Run1.</a:t>
            </a:r>
          </a:p>
          <a:p>
            <a:pPr>
              <a:spcAft>
                <a:spcPts val="800"/>
              </a:spcAft>
              <a:defRPr sz="2100" b="0">
                <a:solidFill>
                  <a:srgbClr val="202526"/>
                </a:solidFill>
                <a:latin typeface="Aptos"/>
              </a:defRPr>
            </a:pPr>
            <a:r>
              <a:t>Zero confirmed full-chain matches can currently be claimed; this is not proof of zero real equivalence.</a:t>
            </a:r>
          </a:p>
          <a:p>
            <a:pPr>
              <a:spcAft>
                <a:spcPts val="800"/>
              </a:spcAft>
              <a:defRPr sz="2100" b="0">
                <a:solidFill>
                  <a:srgbClr val="202526"/>
                </a:solidFill>
                <a:latin typeface="Aptos"/>
              </a:defRPr>
            </a:pPr>
            <a:r>
              <a:t>200/200 BR status agreement is status reconciliation, not business-rule equivalence.</a:t>
            </a:r>
          </a:p>
          <a:p>
            <a:pPr>
              <a:spcAft>
                <a:spcPts val="800"/>
              </a:spcAft>
              <a:defRPr sz="2100" b="0">
                <a:solidFill>
                  <a:srgbClr val="202526"/>
                </a:solidFill>
                <a:latin typeface="Aptos"/>
              </a:defRPr>
            </a:pPr>
            <a:r>
              <a:t>40/40 synthetic probes passed two scoped predicates; they are not forty approved AI tests.</a:t>
            </a:r>
          </a:p>
          <a:p>
            <a:pPr>
              <a:spcAft>
                <a:spcPts val="800"/>
              </a:spcAft>
              <a:defRPr sz="2100" b="0">
                <a:solidFill>
                  <a:srgbClr val="202526"/>
                </a:solidFill>
                <a:latin typeface="Aptos"/>
              </a:defRPr>
            </a:pPr>
            <a:r>
              <a:t>The 522 atomic candidates belong to September Run2 and are not October confirmed matches.</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6A | Real example: different data, same predicate</a:t>
            </a:r>
          </a:p>
        </p:txBody>
      </p:sp>
      <p:graphicFrame>
        <p:nvGraphicFramePr>
          <p:cNvPr id="3" name="Table 2"/>
          <p:cNvGraphicFramePr>
            <a:graphicFrameLocks noGrp="1"/>
          </p:cNvGraphicFramePr>
          <p:nvPr/>
        </p:nvGraphicFramePr>
        <p:xfrm>
          <a:off x="548640" y="1325880"/>
          <a:ext cx="11064240" cy="2578608"/>
        </p:xfrm>
        <a:graphic>
          <a:graphicData uri="http://schemas.openxmlformats.org/drawingml/2006/table">
            <a:tbl>
              <a:tblPr firstRow="1" bandRow="1">
                <a:tableStyleId>{5C22544A-7EE6-4342-B048-85BDC9FD1C3A}</a:tableStyleId>
              </a:tblPr>
              <a:tblGrid>
                <a:gridCol w="3688080"/>
                <a:gridCol w="3688080"/>
                <a:gridCol w="3688080"/>
              </a:tblGrid>
              <a:tr h="429768">
                <a:tc>
                  <a:txBody>
                    <a:bodyPr/>
                    <a:lstStyle/>
                    <a:p>
                      <a:pPr>
                        <a:defRPr sz="1500">
                          <a:solidFill>
                            <a:srgbClr val="202526"/>
                          </a:solidFill>
                          <a:latin typeface="Aptos"/>
                        </a:defRPr>
                      </a:pPr>
                      <a:r>
                        <a:t>Layer</a:t>
                      </a:r>
                    </a:p>
                  </a:txBody>
                  <a:tcPr>
                    <a:solidFill>
                      <a:srgbClr val="E5EFED"/>
                    </a:solidFill>
                  </a:tcPr>
                </a:tc>
                <a:tc>
                  <a:txBody>
                    <a:bodyPr/>
                    <a:lstStyle/>
                    <a:p>
                      <a:pPr>
                        <a:defRPr sz="1500">
                          <a:solidFill>
                            <a:srgbClr val="202526"/>
                          </a:solidFill>
                          <a:latin typeface="Aptos"/>
                        </a:defRPr>
                      </a:pPr>
                      <a:r>
                        <a:t>AI Solution</a:t>
                      </a:r>
                    </a:p>
                  </a:txBody>
                  <a:tcPr>
                    <a:solidFill>
                      <a:srgbClr val="E5EFED"/>
                    </a:solidFill>
                  </a:tcPr>
                </a:tc>
                <a:tc>
                  <a:txBody>
                    <a:bodyPr/>
                    <a:lstStyle/>
                    <a:p>
                      <a:pPr>
                        <a:defRPr sz="1500">
                          <a:solidFill>
                            <a:srgbClr val="202526"/>
                          </a:solidFill>
                          <a:latin typeface="Aptos"/>
                        </a:defRPr>
                      </a:pPr>
                      <a:r>
                        <a:t>Independent Test Solution</a:t>
                      </a:r>
                    </a:p>
                  </a:txBody>
                  <a:tcPr>
                    <a:solidFill>
                      <a:srgbClr val="E5EFED"/>
                    </a:solidFill>
                  </a:tcPr>
                </a:tc>
              </a:tr>
              <a:tr h="429768">
                <a:tc>
                  <a:txBody>
                    <a:bodyPr/>
                    <a:lstStyle/>
                    <a:p>
                      <a:pPr>
                        <a:defRPr sz="1500">
                          <a:solidFill>
                            <a:srgbClr val="202526"/>
                          </a:solidFill>
                          <a:latin typeface="Aptos"/>
                        </a:defRPr>
                      </a:pPr>
                      <a:r>
                        <a:t>BR</a:t>
                      </a:r>
                    </a:p>
                  </a:txBody>
                  <a:tcPr>
                    <a:solidFill>
                      <a:srgbClr val="FFFFFF"/>
                    </a:solidFill>
                  </a:tcPr>
                </a:tc>
                <a:tc>
                  <a:txBody>
                    <a:bodyPr/>
                    <a:lstStyle/>
                    <a:p>
                      <a:pPr>
                        <a:defRPr sz="1500">
                          <a:solidFill>
                            <a:srgbClr val="202526"/>
                          </a:solidFill>
                          <a:latin typeface="Aptos"/>
                        </a:defRPr>
                      </a:pPr>
                      <a:r>
                        <a:t>REQ-SRC-ATL105-PDF-001:097</a:t>
                      </a:r>
                    </a:p>
                  </a:txBody>
                  <a:tcPr>
                    <a:solidFill>
                      <a:srgbClr val="FFFFFF"/>
                    </a:solidFill>
                  </a:tcPr>
                </a:tc>
                <a:tc>
                  <a:txBody>
                    <a:bodyPr/>
                    <a:lstStyle/>
                    <a:p>
                      <a:pPr>
                        <a:defRPr sz="1500">
                          <a:solidFill>
                            <a:srgbClr val="202526"/>
                          </a:solidFill>
                          <a:latin typeface="Aptos"/>
                        </a:defRPr>
                      </a:pPr>
                      <a:r>
                        <a:t>BR-SEG100-E86-001</a:t>
                      </a:r>
                    </a:p>
                  </a:txBody>
                  <a:tcPr>
                    <a:solidFill>
                      <a:srgbClr val="FFFFFF"/>
                    </a:solidFill>
                  </a:tcPr>
                </a:tc>
              </a:tr>
              <a:tr h="429768">
                <a:tc>
                  <a:txBody>
                    <a:bodyPr/>
                    <a:lstStyle/>
                    <a:p>
                      <a:pPr>
                        <a:defRPr sz="1500">
                          <a:solidFill>
                            <a:srgbClr val="202526"/>
                          </a:solidFill>
                          <a:latin typeface="Aptos"/>
                        </a:defRPr>
                      </a:pPr>
                      <a:r>
                        <a:t>TS</a:t>
                      </a:r>
                    </a:p>
                  </a:txBody>
                  <a:tcPr>
                    <a:solidFill>
                      <a:srgbClr val="FFFFFF"/>
                    </a:solidFill>
                  </a:tcPr>
                </a:tc>
                <a:tc>
                  <a:txBody>
                    <a:bodyPr/>
                    <a:lstStyle/>
                    <a:p>
                      <a:pPr>
                        <a:defRPr sz="1500">
                          <a:solidFill>
                            <a:srgbClr val="202526"/>
                          </a:solidFill>
                          <a:latin typeface="Aptos"/>
                        </a:defRPr>
                      </a:pPr>
                      <a:r>
                        <a:t>SC-1486</a:t>
                      </a:r>
                    </a:p>
                  </a:txBody>
                  <a:tcPr>
                    <a:solidFill>
                      <a:srgbClr val="FFFFFF"/>
                    </a:solidFill>
                  </a:tcPr>
                </a:tc>
                <a:tc>
                  <a:txBody>
                    <a:bodyPr/>
                    <a:lstStyle/>
                    <a:p>
                      <a:pPr>
                        <a:defRPr sz="1500">
                          <a:solidFill>
                            <a:srgbClr val="202526"/>
                          </a:solidFill>
                          <a:latin typeface="Aptos"/>
                        </a:defRPr>
                      </a:pPr>
                      <a:r>
                        <a:t>SCN-SEG100-E86-001</a:t>
                      </a:r>
                    </a:p>
                  </a:txBody>
                  <a:tcPr>
                    <a:solidFill>
                      <a:srgbClr val="FFFFFF"/>
                    </a:solidFill>
                  </a:tcPr>
                </a:tc>
              </a:tr>
              <a:tr h="429768">
                <a:tc>
                  <a:txBody>
                    <a:bodyPr/>
                    <a:lstStyle/>
                    <a:p>
                      <a:pPr>
                        <a:defRPr sz="1500">
                          <a:solidFill>
                            <a:srgbClr val="202526"/>
                          </a:solidFill>
                          <a:latin typeface="Aptos"/>
                        </a:defRPr>
                      </a:pPr>
                      <a:r>
                        <a:t>TC</a:t>
                      </a:r>
                    </a:p>
                  </a:txBody>
                  <a:tcPr>
                    <a:solidFill>
                      <a:srgbClr val="FFFFFF"/>
                    </a:solidFill>
                  </a:tcPr>
                </a:tc>
                <a:tc>
                  <a:txBody>
                    <a:bodyPr/>
                    <a:lstStyle/>
                    <a:p>
                      <a:pPr>
                        <a:defRPr sz="1500">
                          <a:solidFill>
                            <a:srgbClr val="202526"/>
                          </a:solidFill>
                          <a:latin typeface="Aptos"/>
                        </a:defRPr>
                      </a:pPr>
                      <a:r>
                        <a:t>TC-001436</a:t>
                      </a:r>
                    </a:p>
                  </a:txBody>
                  <a:tcPr>
                    <a:solidFill>
                      <a:srgbClr val="FFFFFF"/>
                    </a:solidFill>
                  </a:tcPr>
                </a:tc>
                <a:tc>
                  <a:txBody>
                    <a:bodyPr/>
                    <a:lstStyle/>
                    <a:p>
                      <a:pPr>
                        <a:defRPr sz="1500">
                          <a:solidFill>
                            <a:srgbClr val="202526"/>
                          </a:solidFill>
                          <a:latin typeface="Aptos"/>
                        </a:defRPr>
                      </a:pPr>
                      <a:r>
                        <a:t>TC-SEG100-E86-001</a:t>
                      </a:r>
                    </a:p>
                  </a:txBody>
                  <a:tcPr>
                    <a:solidFill>
                      <a:srgbClr val="FFFFFF"/>
                    </a:solidFill>
                  </a:tcPr>
                </a:tc>
              </a:tr>
              <a:tr h="429768">
                <a:tc>
                  <a:txBody>
                    <a:bodyPr/>
                    <a:lstStyle/>
                    <a:p>
                      <a:pPr>
                        <a:defRPr sz="1500">
                          <a:solidFill>
                            <a:srgbClr val="202526"/>
                          </a:solidFill>
                          <a:latin typeface="Aptos"/>
                        </a:defRPr>
                      </a:pPr>
                      <a:r>
                        <a:t>TD</a:t>
                      </a:r>
                    </a:p>
                  </a:txBody>
                  <a:tcPr>
                    <a:solidFill>
                      <a:srgbClr val="FFFFFF"/>
                    </a:solidFill>
                  </a:tcPr>
                </a:tc>
                <a:tc>
                  <a:txBody>
                    <a:bodyPr/>
                    <a:lstStyle/>
                    <a:p>
                      <a:pPr>
                        <a:defRPr sz="1500">
                          <a:solidFill>
                            <a:srgbClr val="202526"/>
                          </a:solidFill>
                          <a:latin typeface="Aptos"/>
                        </a:defRPr>
                      </a:pPr>
                      <a:r>
                        <a:t>TC-001436.json</a:t>
                      </a:r>
                    </a:p>
                  </a:txBody>
                  <a:tcPr>
                    <a:solidFill>
                      <a:srgbClr val="FFFFFF"/>
                    </a:solidFill>
                  </a:tcPr>
                </a:tc>
                <a:tc>
                  <a:txBody>
                    <a:bodyPr/>
                    <a:lstStyle/>
                    <a:p>
                      <a:pPr>
                        <a:defRPr sz="1500">
                          <a:solidFill>
                            <a:srgbClr val="202526"/>
                          </a:solidFill>
                          <a:latin typeface="Aptos"/>
                        </a:defRPr>
                      </a:pPr>
                      <a:r>
                        <a:t>TD-SEG100-E86-001</a:t>
                      </a:r>
                    </a:p>
                  </a:txBody>
                  <a:tcPr>
                    <a:solidFill>
                      <a:srgbClr val="FFFFFF"/>
                    </a:solidFill>
                  </a:tcPr>
                </a:tc>
              </a:tr>
              <a:tr h="429768">
                <a:tc>
                  <a:txBody>
                    <a:bodyPr/>
                    <a:lstStyle/>
                    <a:p>
                      <a:pPr>
                        <a:defRPr sz="1500">
                          <a:solidFill>
                            <a:srgbClr val="202526"/>
                          </a:solidFill>
                          <a:latin typeface="Aptos"/>
                        </a:defRPr>
                      </a:pPr>
                      <a:r>
                        <a:t>Sequence value</a:t>
                      </a:r>
                    </a:p>
                  </a:txBody>
                  <a:tcPr>
                    <a:solidFill>
                      <a:srgbClr val="FFFFFF"/>
                    </a:solidFill>
                  </a:tcPr>
                </a:tc>
                <a:tc>
                  <a:txBody>
                    <a:bodyPr/>
                    <a:lstStyle/>
                    <a:p>
                      <a:pPr>
                        <a:defRPr sz="1500">
                          <a:solidFill>
                            <a:srgbClr val="202526"/>
                          </a:solidFill>
                          <a:latin typeface="Aptos"/>
                        </a:defRPr>
                      </a:pPr>
                      <a:r>
                        <a:t>000001</a:t>
                      </a:r>
                    </a:p>
                  </a:txBody>
                  <a:tcPr>
                    <a:solidFill>
                      <a:srgbClr val="FFFFFF"/>
                    </a:solidFill>
                  </a:tcPr>
                </a:tc>
                <a:tc>
                  <a:txBody>
                    <a:bodyPr/>
                    <a:lstStyle/>
                    <a:p>
                      <a:pPr>
                        <a:defRPr sz="1500">
                          <a:solidFill>
                            <a:srgbClr val="202526"/>
                          </a:solidFill>
                          <a:latin typeface="Aptos"/>
                        </a:defRPr>
                      </a:pPr>
                      <a:r>
                        <a:t>100001</a:t>
                      </a:r>
                    </a:p>
                  </a:txBody>
                  <a:tcPr>
                    <a:solidFill>
                      <a:srgbClr val="FFFFFF"/>
                    </a:solidFill>
                  </a:tcPr>
                </a:tc>
              </a:tr>
            </a:tbl>
          </a:graphicData>
        </a:graphic>
      </p:graphicFrame>
      <p:sp>
        <p:nvSpPr>
          <p:cNvPr id="4" name="TextBox 3"/>
          <p:cNvSpPr txBox="1"/>
          <p:nvPr/>
        </p:nvSpPr>
        <p:spPr>
          <a:xfrm>
            <a:off x="548640" y="4133087"/>
            <a:ext cx="11064240" cy="1947672"/>
          </a:xfrm>
          <a:prstGeom prst="rect">
            <a:avLst/>
          </a:prstGeom>
          <a:noFill/>
        </p:spPr>
        <p:txBody>
          <a:bodyPr wrap="square">
            <a:spAutoFit/>
          </a:bodyPr>
          <a:lstStyle/>
          <a:p>
            <a:pPr>
              <a:spcAft>
                <a:spcPts val="800"/>
              </a:spcAft>
              <a:defRPr sz="1800" b="0">
                <a:solidFill>
                  <a:srgbClr val="202526"/>
                </a:solidFill>
                <a:latin typeface="Aptos"/>
              </a:defRPr>
            </a:pPr>
            <a:r>
              <a:t>Both actual values satisfy exactly six ASCII digits.</a:t>
            </a:r>
          </a:p>
          <a:p>
            <a:pPr>
              <a:spcAft>
                <a:spcPts val="800"/>
              </a:spcAft>
              <a:defRPr sz="1800" b="0">
                <a:solidFill>
                  <a:srgbClr val="202526"/>
                </a:solidFill>
                <a:latin typeface="Aptos"/>
              </a:defRPr>
            </a:pPr>
            <a:r>
              <a:t>Disposition: verified field-predicate alignment; partial full-chain comparison candidate.</a:t>
            </a:r>
          </a:p>
          <a:p>
            <a:pPr>
              <a:spcAft>
                <a:spcPts val="800"/>
              </a:spcAft>
              <a:defRPr sz="1800" b="0">
                <a:solidFill>
                  <a:srgbClr val="202526"/>
                </a:solidFill>
                <a:latin typeface="Aptos"/>
              </a:defRPr>
            </a:pPr>
            <a:r>
              <a:t>AI expected response is empty; independent fixture readiness is not declared. Range/allocation/lifecycle and complete outcomes remain unproven.</a:t>
            </a:r>
          </a:p>
        </p:txBody>
      </p:sp>
      <p:sp>
        <p:nvSpPr>
          <p:cNvPr id="5" name="TextBox 4"/>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6B | Real example: identity aligns, context differs</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Identity: AI TC-001436 and Test TC-SEG100-ID-001 both carry Segment Type 100.</a:t>
            </a:r>
          </a:p>
          <a:p>
            <a:pPr>
              <a:spcAft>
                <a:spcPts val="800"/>
              </a:spcAft>
              <a:defRPr sz="2100" b="0">
                <a:solidFill>
                  <a:srgbClr val="202526"/>
                </a:solidFill>
                <a:latin typeface="Aptos"/>
              </a:defRPr>
            </a:pPr>
            <a:r>
              <a:t>AI identity BR REQ-SRC-ATL105-PDF-001:095 is generic; Test BR-SEG100-ID-001 explicitly fixes Standard Segment type to 100.</a:t>
            </a:r>
          </a:p>
          <a:p>
            <a:pPr>
              <a:spcAft>
                <a:spcPts val="800"/>
              </a:spcAft>
              <a:defRPr sz="2100" b="0">
                <a:solidFill>
                  <a:srgbClr val="202526"/>
                </a:solidFill>
                <a:latin typeface="Aptos"/>
              </a:defRPr>
            </a:pPr>
            <a:r>
              <a:t>Partial approval: AI value 0 vs Test value 5.</a:t>
            </a:r>
          </a:p>
          <a:p>
            <a:pPr>
              <a:spcAft>
                <a:spcPts val="800"/>
              </a:spcAft>
              <a:defRPr sz="2100" b="0">
                <a:solidFill>
                  <a:srgbClr val="202526"/>
                </a:solidFill>
                <a:latin typeface="Aptos"/>
              </a:defRPr>
            </a:pPr>
            <a:r>
              <a:t>The Test BR requires value 5 in Amex prepaid balance-receipt context.</a:t>
            </a:r>
          </a:p>
          <a:p>
            <a:pPr>
              <a:spcAft>
                <a:spcPts val="800"/>
              </a:spcAft>
              <a:defRPr sz="2100" b="0">
                <a:solidFill>
                  <a:srgbClr val="202526"/>
                </a:solidFill>
                <a:latin typeface="Aptos"/>
              </a:defRPr>
            </a:pPr>
            <a:r>
              <a:t>AI value 0 does not prove that value-5 context. Different values are not automatically interchangeable.</a:t>
            </a:r>
          </a:p>
          <a:p>
            <a:pPr>
              <a:spcAft>
                <a:spcPts val="800"/>
              </a:spcAft>
              <a:defRPr sz="2100" b="0">
                <a:solidFill>
                  <a:srgbClr val="202526"/>
                </a:solidFill>
                <a:latin typeface="Aptos"/>
              </a:defRPr>
            </a:pPr>
            <a:r>
              <a:t>These examples prove scoped alignment or a context gap, not approved full-chain equivalence.</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7 | How can we filter artifacts for analysis?</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Run report: no-TC search, generation cause, producer verdict and evidence conditions; selected CSV export.</a:t>
            </a:r>
          </a:p>
          <a:p>
            <a:pPr>
              <a:spcAft>
                <a:spcPts val="800"/>
              </a:spcAft>
              <a:defRPr sz="2100" b="0">
                <a:solidFill>
                  <a:srgbClr val="202526"/>
                </a:solidFill>
                <a:latin typeface="Aptos"/>
              </a:defRPr>
            </a:pPr>
            <a:r>
              <a:t>Coverage view: overall, segment, transaction target, response-code declaration and scenario-type summaries.</a:t>
            </a:r>
          </a:p>
          <a:p>
            <a:pPr>
              <a:spcAft>
                <a:spcPts val="800"/>
              </a:spcAft>
              <a:defRPr sz="2100" b="0">
                <a:solidFill>
                  <a:srgbClr val="202526"/>
                </a:solidFill>
                <a:latin typeface="Aptos"/>
              </a:defRPr>
            </a:pPr>
            <a:r>
              <a:t>Semantic report: 100-case intent/condition filters, artifact/BR search, detail and CSV export.</a:t>
            </a:r>
          </a:p>
          <a:p>
            <a:pPr>
              <a:spcAft>
                <a:spcPts val="800"/>
              </a:spcAft>
              <a:defRPr sz="2100" b="0">
                <a:solidFill>
                  <a:srgbClr val="202526"/>
                </a:solidFill>
                <a:latin typeface="Aptos"/>
              </a:defRPr>
            </a:pPr>
            <a:r>
              <a:t>Code-1 queue: producer transaction label, source/context filters and paginated export.</a:t>
            </a:r>
          </a:p>
          <a:p>
            <a:pPr>
              <a:spcAft>
                <a:spcPts val="800"/>
              </a:spcAft>
              <a:defRPr sz="2100" b="0">
                <a:solidFill>
                  <a:srgbClr val="202526"/>
                </a:solidFill>
                <a:latin typeface="Aptos"/>
              </a:defRPr>
            </a:pPr>
            <a:r>
              <a:t>Full reconstruction CSV: filter BR, scenario, TC, leaf status and TD paths in Excel.</a:t>
            </a:r>
          </a:p>
          <a:p>
            <a:pPr>
              <a:spcAft>
                <a:spcPts val="800"/>
              </a:spcAft>
              <a:defRPr sz="2100" b="0">
                <a:solidFill>
                  <a:srgbClr val="202526"/>
                </a:solidFill>
                <a:latin typeface="Aptos"/>
              </a:defRPr>
            </a:pPr>
            <a:r>
              <a:t>Scope warning: no-TC view covers 3,732 scenarios; semantic case view covers 100, not the entire delivery.</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spAutoFit/>
          </a:bodyPr>
          <a:lstStyle/>
          <a:p>
            <a:pPr>
              <a:spcAft>
                <a:spcPts val="800"/>
              </a:spcAft>
              <a:defRPr sz="2800" b="1">
                <a:solidFill>
                  <a:srgbClr val="07665E"/>
                </a:solidFill>
                <a:latin typeface="Aptos"/>
              </a:defRPr>
            </a:pPr>
            <a:r>
              <a:t>Business decision and next evidence</a:t>
            </a:r>
          </a:p>
        </p:txBody>
      </p:sp>
      <p:sp>
        <p:nvSpPr>
          <p:cNvPr id="3" name="TextBox 2"/>
          <p:cNvSpPr txBox="1"/>
          <p:nvPr/>
        </p:nvSpPr>
        <p:spPr>
          <a:xfrm>
            <a:off x="548640" y="1325880"/>
            <a:ext cx="11064240" cy="4754880"/>
          </a:xfrm>
          <a:prstGeom prst="rect">
            <a:avLst/>
          </a:prstGeom>
          <a:noFill/>
        </p:spPr>
        <p:txBody>
          <a:bodyPr wrap="square">
            <a:spAutoFit/>
          </a:bodyPr>
          <a:lstStyle/>
          <a:p>
            <a:pPr>
              <a:spcAft>
                <a:spcPts val="800"/>
              </a:spcAft>
              <a:defRPr sz="2100" b="0">
                <a:solidFill>
                  <a:srgbClr val="202526"/>
                </a:solidFill>
                <a:latin typeface="Aptos"/>
              </a:defRPr>
            </a:pPr>
            <a:r>
              <a:t>Request the complete producer matrix and source catalog hashes/changed artifacts.</a:t>
            </a:r>
          </a:p>
          <a:p>
            <a:pPr>
              <a:spcAft>
                <a:spcPts val="800"/>
              </a:spcAft>
              <a:defRPr sz="2100" b="0">
                <a:solidFill>
                  <a:srgbClr val="202526"/>
                </a:solidFill>
                <a:latin typeface="Aptos"/>
              </a:defRPr>
            </a:pPr>
            <a:r>
              <a:t>Resolve the 63 additional rows and BR :521 / :3226 mappings without inventing edges.</a:t>
            </a:r>
          </a:p>
          <a:p>
            <a:pPr>
              <a:spcAft>
                <a:spcPts val="800"/>
              </a:spcAft>
              <a:defRPr sz="2100" b="0">
                <a:solidFill>
                  <a:srgbClr val="202526"/>
                </a:solidFill>
                <a:latin typeface="Aptos"/>
              </a:defRPr>
            </a:pPr>
            <a:r>
              <a:t>Adjudicate a narrow business scope against independent source-derived requirements.</a:t>
            </a:r>
          </a:p>
          <a:p>
            <a:pPr>
              <a:spcAft>
                <a:spcPts val="800"/>
              </a:spcAft>
              <a:defRPr sz="2100" b="0">
                <a:solidFill>
                  <a:srgbClr val="202526"/>
                </a:solidFill>
                <a:latin typeface="Aptos"/>
              </a:defRPr>
            </a:pPr>
            <a:r>
              <a:t>Supply approved control fixtures, actual wire, authoritative host expectations and a permitted test environment.</a:t>
            </a:r>
          </a:p>
          <a:p>
            <a:pPr>
              <a:spcAft>
                <a:spcPts val="800"/>
              </a:spcAft>
              <a:defRPr sz="2100" b="0">
                <a:solidFill>
                  <a:srgbClr val="202526"/>
                </a:solidFill>
                <a:latin typeface="Aptos"/>
              </a:defRPr>
            </a:pPr>
            <a:r>
              <a:t>Track structural, semantic and executed coverage separately; retain every assessment history point.</a:t>
            </a:r>
          </a:p>
        </p:txBody>
      </p:sp>
      <p:sp>
        <p:nvSpPr>
          <p:cNvPr id="4" name="TextBox 3"/>
          <p:cNvSpPr txBox="1"/>
          <p:nvPr/>
        </p:nvSpPr>
        <p:spPr>
          <a:xfrm>
            <a:off x="548640" y="6355080"/>
            <a:ext cx="11064240" cy="365760"/>
          </a:xfrm>
          <a:prstGeom prst="rect">
            <a:avLst/>
          </a:prstGeom>
          <a:noFill/>
        </p:spPr>
        <p:txBody>
          <a:bodyPr wrap="square">
            <a:spAutoFit/>
          </a:bodyPr>
          <a:lstStyle/>
          <a:p>
            <a:pPr>
              <a:spcAft>
                <a:spcPts val="800"/>
              </a:spcAft>
              <a:defRPr sz="1000" b="0">
                <a:solidFill>
                  <a:srgbClr val="626B6C"/>
                </a:solidFill>
                <a:latin typeface="Aptos"/>
              </a:defRPr>
            </a:pPr>
            <a:r>
              <a:t>FISERV / ATL105 / OCTOBER 5 RUN1 | REVIEW REQUIRED |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